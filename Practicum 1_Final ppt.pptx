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2" r:id="rId2"/>
    <p:sldId id="256" r:id="rId3"/>
    <p:sldId id="257" r:id="rId4"/>
    <p:sldId id="258" r:id="rId5"/>
    <p:sldId id="259" r:id="rId6"/>
    <p:sldId id="260" r:id="rId7"/>
    <p:sldId id="261" r:id="rId8"/>
    <p:sldId id="262" r:id="rId9"/>
    <p:sldId id="263" r:id="rId10"/>
    <p:sldId id="264" r:id="rId11"/>
    <p:sldId id="265"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67C47A-95AE-4309-A4D2-C8B866C7D274}" v="8" dt="2026-10-15T18:17:19.412"/>
    <p1510:client id="{C5A48405-AAF1-4EA4-B2CC-0634BEE6C7A4}" v="1" dt="2026-10-15T22:58:24.4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033" autoAdjust="0"/>
  </p:normalViewPr>
  <p:slideViewPr>
    <p:cSldViewPr snapToGrid="0" snapToObjects="1">
      <p:cViewPr>
        <p:scale>
          <a:sx n="68" d="100"/>
          <a:sy n="68" d="100"/>
        </p:scale>
        <p:origin x="259"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65BC35-2754-46FE-A9C9-52789B2CB969}"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789A7-F567-48E4-B3B7-CBCEBB476C97}" type="slidenum">
              <a:rPr lang="en-US" smtClean="0"/>
              <a:t>‹#›</a:t>
            </a:fld>
            <a:endParaRPr lang="en-US"/>
          </a:p>
        </p:txBody>
      </p:sp>
    </p:spTree>
    <p:extLst>
      <p:ext uri="{BB962C8B-B14F-4D97-AF65-F5344CB8AC3E}">
        <p14:creationId xmlns:p14="http://schemas.microsoft.com/office/powerpoint/2010/main" val="3439433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8789A7-F567-48E4-B3B7-CBCEBB476C97}" type="slidenum">
              <a:rPr lang="en-US" smtClean="0"/>
              <a:t>1</a:t>
            </a:fld>
            <a:endParaRPr lang="en-US"/>
          </a:p>
        </p:txBody>
      </p:sp>
    </p:spTree>
    <p:extLst>
      <p:ext uri="{BB962C8B-B14F-4D97-AF65-F5344CB8AC3E}">
        <p14:creationId xmlns:p14="http://schemas.microsoft.com/office/powerpoint/2010/main" val="3362318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EA56C6-C079-9E20-6D89-161A8EA2A13C}"/>
              </a:ext>
            </a:extLst>
          </p:cNvPr>
          <p:cNvSpPr txBox="1"/>
          <p:nvPr/>
        </p:nvSpPr>
        <p:spPr>
          <a:xfrm>
            <a:off x="510209" y="6162261"/>
            <a:ext cx="11171582" cy="369332"/>
          </a:xfrm>
          <a:prstGeom prst="rect">
            <a:avLst/>
          </a:prstGeom>
          <a:noFill/>
        </p:spPr>
        <p:txBody>
          <a:bodyPr wrap="square" rtlCol="0">
            <a:spAutoFit/>
          </a:bodyPr>
          <a:lstStyle/>
          <a:p>
            <a:r>
              <a:rPr lang="en-US" sz="1100" dirty="0">
                <a:solidFill>
                  <a:srgbClr val="6E6E6E"/>
                </a:solidFill>
                <a:latin typeface="Aptos"/>
              </a:rPr>
              <a:t>Open University Learning Analytics Dataset, 2013 to 2014. 22,476 students still enrolled at day 28, in the 16 of 22 course runs with marked work due by then</a:t>
            </a:r>
            <a:r>
              <a:rPr lang="en-US" dirty="0">
                <a:solidFill>
                  <a:srgbClr val="6E6E6E"/>
                </a:solidFill>
                <a:latin typeface="Aptos"/>
              </a:rPr>
              <a:t>.</a:t>
            </a:r>
          </a:p>
        </p:txBody>
      </p:sp>
      <p:sp>
        <p:nvSpPr>
          <p:cNvPr id="5" name="Rectangle 4">
            <a:extLst>
              <a:ext uri="{FF2B5EF4-FFF2-40B4-BE49-F238E27FC236}">
                <a16:creationId xmlns:a16="http://schemas.microsoft.com/office/drawing/2014/main" id="{0B3EC02F-8B51-4F1A-6D2D-8982AB963FF3}"/>
              </a:ext>
            </a:extLst>
          </p:cNvPr>
          <p:cNvSpPr/>
          <p:nvPr/>
        </p:nvSpPr>
        <p:spPr>
          <a:xfrm>
            <a:off x="417444" y="1866447"/>
            <a:ext cx="10764078" cy="2339102"/>
          </a:xfrm>
          <a:prstGeom prst="rect">
            <a:avLst/>
          </a:prstGeom>
          <a:noFill/>
        </p:spPr>
        <p:txBody>
          <a:bodyPr wrap="square" lIns="91440" tIns="45720" rIns="91440" bIns="45720">
            <a:spAutoFit/>
          </a:bodyPr>
          <a:lstStyle/>
          <a:p>
            <a:pPr algn="ctr"/>
            <a:r>
              <a:rPr lang="en-US" sz="4800" b="1" dirty="0">
                <a:ln w="0"/>
                <a:effectLst>
                  <a:outerShdw blurRad="38100" dist="19050" dir="2700000" algn="tl" rotWithShape="0">
                    <a:schemeClr val="dk1">
                      <a:alpha val="40000"/>
                    </a:schemeClr>
                  </a:outerShdw>
                </a:effectLst>
              </a:rPr>
              <a:t>        </a:t>
            </a:r>
            <a:r>
              <a:rPr lang="en-US" sz="5400" b="1" dirty="0">
                <a:ln w="0"/>
                <a:effectLst>
                  <a:outerShdw blurRad="38100" dist="19050" dir="2700000" algn="tl" rotWithShape="0">
                    <a:schemeClr val="dk1">
                      <a:alpha val="40000"/>
                    </a:schemeClr>
                  </a:outerShdw>
                </a:effectLst>
              </a:rPr>
              <a:t>WHO IS ABOUT TO WITHDRAW</a:t>
            </a:r>
          </a:p>
          <a:p>
            <a:pPr algn="ctr"/>
            <a:r>
              <a:rPr lang="en-US" sz="2800" dirty="0">
                <a:ln w="0"/>
                <a:effectLst>
                  <a:outerShdw blurRad="38100" dist="19050" dir="2700000" algn="tl" rotWithShape="0">
                    <a:schemeClr val="dk1">
                      <a:alpha val="40000"/>
                    </a:schemeClr>
                  </a:outerShdw>
                </a:effectLst>
              </a:rPr>
              <a:t>               AN EARLY WARNING FOR DISTANCE LEARNING STUDENTS </a:t>
            </a:r>
          </a:p>
          <a:p>
            <a:pPr algn="ctr"/>
            <a:endParaRPr lang="en-US" sz="2800" cap="none" spc="0" dirty="0">
              <a:ln w="0"/>
              <a:effectLst>
                <a:outerShdw blurRad="38100" dist="19050" dir="2700000" algn="tl" rotWithShape="0">
                  <a:schemeClr val="dk1">
                    <a:alpha val="40000"/>
                  </a:schemeClr>
                </a:outerShdw>
              </a:effectLst>
            </a:endParaRPr>
          </a:p>
          <a:p>
            <a:pPr algn="ctr"/>
            <a:r>
              <a:rPr lang="en-US" dirty="0">
                <a:ln w="0"/>
                <a:effectLst>
                  <a:outerShdw blurRad="38100" dist="19050" dir="2700000" algn="tl" rotWithShape="0">
                    <a:schemeClr val="dk1">
                      <a:alpha val="40000"/>
                    </a:schemeClr>
                  </a:outerShdw>
                </a:effectLst>
              </a:rPr>
              <a:t>  AKSHAYA CHEVVA</a:t>
            </a:r>
            <a:br>
              <a:rPr lang="en-US" dirty="0">
                <a:ln w="0"/>
                <a:effectLst>
                  <a:outerShdw blurRad="38100" dist="19050" dir="2700000" algn="tl" rotWithShape="0">
                    <a:schemeClr val="dk1">
                      <a:alpha val="40000"/>
                    </a:schemeClr>
                  </a:outerShdw>
                </a:effectLst>
              </a:rPr>
            </a:br>
            <a:r>
              <a:rPr lang="en-US" dirty="0">
                <a:ln w="0"/>
                <a:effectLst>
                  <a:outerShdw blurRad="38100" dist="19050" dir="2700000" algn="tl" rotWithShape="0">
                    <a:schemeClr val="dk1">
                      <a:alpha val="40000"/>
                    </a:schemeClr>
                  </a:outerShdw>
                </a:effectLst>
              </a:rPr>
              <a:t>PRACTICUM – 1  </a:t>
            </a:r>
            <a:endParaRPr lang="en-US" dirty="0">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490114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Start calling the students who have handed nothing in by day 28, and measure whether it works</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That list is 13 percent of the class</a:t>
            </a:r>
            <a:r>
              <a:rPr sz="2100">
                <a:solidFill>
                  <a:srgbClr val="3C3C3C"/>
                </a:solidFill>
                <a:latin typeface="Aptos"/>
              </a:rPr>
              <a:t> and a quarter of everyone who will leave this term is on it.</a:t>
            </a:r>
          </a:p>
          <a:p>
            <a:pPr>
              <a:spcAft>
                <a:spcPts val="2000"/>
              </a:spcAft>
            </a:pPr>
            <a:r>
              <a:rPr sz="2300" b="1">
                <a:solidFill>
                  <a:srgbClr val="1E1E1E"/>
                </a:solidFill>
                <a:latin typeface="Aptos"/>
              </a:rPr>
              <a:t>It is two columns of the gradebook.</a:t>
            </a:r>
            <a:r>
              <a:rPr sz="2100">
                <a:solidFill>
                  <a:srgbClr val="3C3C3C"/>
                </a:solidFill>
                <a:latin typeface="Aptos"/>
              </a:rPr>
              <a:t> Ready the day the first assignment closes, no model needed to build it.</a:t>
            </a:r>
          </a:p>
          <a:p>
            <a:pPr>
              <a:spcAft>
                <a:spcPts val="2000"/>
              </a:spcAft>
            </a:pPr>
            <a:r>
              <a:rPr sz="2300" b="1">
                <a:solidFill>
                  <a:srgbClr val="1E1E1E"/>
                </a:solidFill>
                <a:latin typeface="Aptos"/>
              </a:rPr>
              <a:t>Measuring is half the ask.</a:t>
            </a:r>
            <a:r>
              <a:rPr sz="2100">
                <a:solidFill>
                  <a:srgbClr val="3C3C3C"/>
                </a:solidFill>
                <a:latin typeface="Aptos"/>
              </a:rPr>
              <a:t> Nothing in this data says whether a phone call helps. Only you can find that out.</a:t>
            </a:r>
          </a:p>
        </p:txBody>
      </p:sp>
      <p:sp>
        <p:nvSpPr>
          <p:cNvPr id="4" name="TextBox 3"/>
          <p:cNvSpPr txBox="1"/>
          <p:nvPr/>
        </p:nvSpPr>
        <p:spPr>
          <a:xfrm>
            <a:off x="609600" y="6035040"/>
            <a:ext cx="10972800" cy="548640"/>
          </a:xfrm>
          <a:prstGeom prst="rect">
            <a:avLst/>
          </a:prstGeom>
          <a:noFill/>
        </p:spPr>
        <p:txBody>
          <a:bodyPr wrap="square">
            <a:spAutoFit/>
          </a:bodyPr>
          <a:lstStyle/>
          <a:p>
            <a:r>
              <a:rPr sz="1100" dirty="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We already agree that the time to catch a leaver is early. We watch logins to do it</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Nobody argues about the goal.</a:t>
            </a:r>
            <a:r>
              <a:rPr sz="2100">
                <a:solidFill>
                  <a:srgbClr val="3C3C3C"/>
                </a:solidFill>
                <a:latin typeface="Aptos"/>
              </a:rPr>
              <a:t> 18 percent of the students still enrolled at day 28 go on to withdraw. In one term that is 1,698 people.</a:t>
            </a:r>
          </a:p>
          <a:p>
            <a:pPr>
              <a:spcAft>
                <a:spcPts val="2000"/>
              </a:spcAft>
            </a:pPr>
            <a:r>
              <a:rPr sz="2300" b="1">
                <a:solidFill>
                  <a:srgbClr val="1E1E1E"/>
                </a:solidFill>
                <a:latin typeface="Aptos"/>
              </a:rPr>
              <a:t>Day 28 is the first point there is anything to see.</a:t>
            </a:r>
            <a:r>
              <a:rPr sz="2100">
                <a:solidFill>
                  <a:srgbClr val="3C3C3C"/>
                </a:solidFill>
                <a:latin typeface="Aptos"/>
              </a:rPr>
              <a:t> 16 of 22 course runs have had marked work due by then.</a:t>
            </a:r>
          </a:p>
          <a:p>
            <a:pPr>
              <a:spcAft>
                <a:spcPts val="2000"/>
              </a:spcAft>
            </a:pPr>
            <a:r>
              <a:rPr sz="2300" b="1">
                <a:solidFill>
                  <a:srgbClr val="1E1E1E"/>
                </a:solidFill>
                <a:latin typeface="Aptos"/>
              </a:rPr>
              <a:t>And the tool everyone already has is the activity dashboard.</a:t>
            </a:r>
            <a:r>
              <a:rPr sz="2100">
                <a:solidFill>
                  <a:srgbClr val="3C3C3C"/>
                </a:solidFill>
                <a:latin typeface="Aptos"/>
              </a:rPr>
              <a:t> Logins, clicks, last seen. That is the part I want to argue with.</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Logging in is the wrong warning sign, handing in work is the right one</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Same number of calls, far fewer of the right people.</a:t>
            </a:r>
            <a:r>
              <a:rPr sz="2100">
                <a:solidFill>
                  <a:srgbClr val="3C3C3C"/>
                </a:solidFill>
                <a:latin typeface="Aptos"/>
              </a:rPr>
              <a:t> A list of the quietest students by activity, exactly the same size, holds 17 percent of the dropouts. The missing-work list holds 24.</a:t>
            </a:r>
          </a:p>
          <a:p>
            <a:pPr>
              <a:spcAft>
                <a:spcPts val="2000"/>
              </a:spcAft>
            </a:pPr>
            <a:r>
              <a:rPr sz="2300" b="1">
                <a:solidFill>
                  <a:srgbClr val="1E1E1E"/>
                </a:solidFill>
                <a:latin typeface="Aptos"/>
              </a:rPr>
              <a:t>The busiest students can be the ones leaving.</a:t>
            </a:r>
            <a:r>
              <a:rPr sz="2100">
                <a:solidFill>
                  <a:srgbClr val="3C3C3C"/>
                </a:solidFill>
                <a:latin typeface="Aptos"/>
              </a:rPr>
              <a:t> A student who logs in plenty and has handed nothing in is the single highest risk group in the data, 40 percent.</a:t>
            </a:r>
          </a:p>
          <a:p>
            <a:pPr>
              <a:spcAft>
                <a:spcPts val="2000"/>
              </a:spcAft>
            </a:pPr>
            <a:r>
              <a:rPr sz="2300" b="1">
                <a:solidFill>
                  <a:srgbClr val="1E1E1E"/>
                </a:solidFill>
                <a:latin typeface="Aptos"/>
              </a:rPr>
              <a:t>That student is green on the dashboard.</a:t>
            </a:r>
            <a:r>
              <a:rPr sz="2100">
                <a:solidFill>
                  <a:srgbClr val="3C3C3C"/>
                </a:solidFill>
                <a:latin typeface="Aptos"/>
              </a:rPr>
              <a:t> Lots of clicks, nothing handed in, and about to go.</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Students with nothing handed in by day 28 dropped out at twice the rate</a:t>
            </a:r>
          </a:p>
        </p:txBody>
      </p:sp>
      <p:pic>
        <p:nvPicPr>
          <p:cNvPr id="3" name="Picture 2" descr="fig_after_slide.png"/>
          <p:cNvPicPr>
            <a:picLocks noChangeAspect="1"/>
          </p:cNvPicPr>
          <p:nvPr/>
        </p:nvPicPr>
        <p:blipFill>
          <a:blip r:embed="rId2"/>
          <a:stretch>
            <a:fillRect/>
          </a:stretch>
        </p:blipFill>
        <p:spPr>
          <a:xfrm>
            <a:off x="2360523" y="1920240"/>
            <a:ext cx="7470648" cy="3931920"/>
          </a:xfrm>
          <a:prstGeom prst="rect">
            <a:avLst/>
          </a:prstGeom>
        </p:spPr>
      </p:pic>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The 16 of 22 course runs with marked work due by day 28. 'Handed in' leaves out 471 students whose only mark was carried over from an earlier attempt. Shows who is at risk, not whether contacting them helps.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It is not one strange course, and it is not a handful of students</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The gap holds in all five courses</a:t>
            </a:r>
            <a:r>
              <a:rPr sz="2100">
                <a:solidFill>
                  <a:srgbClr val="3C3C3C"/>
                </a:solidFill>
                <a:latin typeface="Aptos"/>
              </a:rPr>
              <a:t> that set marked work before day 28. Lowest 12 against 26 percent, highest 27 against 48.</a:t>
            </a:r>
          </a:p>
          <a:p>
            <a:pPr>
              <a:spcAft>
                <a:spcPts val="2000"/>
              </a:spcAft>
            </a:pPr>
            <a:r>
              <a:rPr sz="2300" b="1">
                <a:solidFill>
                  <a:srgbClr val="1E1E1E"/>
                </a:solidFill>
                <a:latin typeface="Aptos"/>
              </a:rPr>
              <a:t>The list is 2,946 students across four terms.</a:t>
            </a:r>
            <a:r>
              <a:rPr sz="2100">
                <a:solidFill>
                  <a:srgbClr val="3C3C3C"/>
                </a:solidFill>
                <a:latin typeface="Aptos"/>
              </a:rPr>
              <a:t> About 736 calls a term across the whole university, and a median of 211 students in any one course.</a:t>
            </a:r>
          </a:p>
          <a:p>
            <a:pPr>
              <a:spcAft>
                <a:spcPts val="2000"/>
              </a:spcAft>
            </a:pPr>
            <a:r>
              <a:rPr sz="2300" b="1">
                <a:solidFill>
                  <a:srgbClr val="1E1E1E"/>
                </a:solidFill>
                <a:latin typeface="Aptos"/>
              </a:rPr>
              <a:t>That is a size a teaching team can actually work through.</a:t>
            </a:r>
            <a:r>
              <a:rPr sz="2100">
                <a:solidFill>
                  <a:srgbClr val="3C3C3C"/>
                </a:solidFill>
                <a:latin typeface="Aptos"/>
              </a:rPr>
              <a:t> It is not a research programme, it is a morning.</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There is time to act: they leave around day 86, not day 29</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Only 12 percent of the flagged students who leave go in the first week after the cutoff.</a:t>
            </a:r>
          </a:p>
          <a:p>
            <a:pPr>
              <a:spcAft>
                <a:spcPts val="2000"/>
              </a:spcAft>
            </a:pPr>
            <a:r>
              <a:rPr sz="2300" b="1">
                <a:solidFill>
                  <a:srgbClr val="1E1E1E"/>
                </a:solidFill>
                <a:latin typeface="Aptos"/>
              </a:rPr>
              <a:t>The median one leaves on day 86,</a:t>
            </a:r>
            <a:r>
              <a:rPr sz="2100">
                <a:solidFill>
                  <a:srgbClr val="3C3C3C"/>
                </a:solidFill>
                <a:latin typeface="Aptos"/>
              </a:rPr>
              <a:t> which is 58 days after the call would have been made, in a course that runs about 240.</a:t>
            </a:r>
          </a:p>
          <a:p>
            <a:pPr>
              <a:spcAft>
                <a:spcPts val="2000"/>
              </a:spcAft>
            </a:pPr>
            <a:r>
              <a:rPr sz="2300" b="1">
                <a:solidFill>
                  <a:srgbClr val="1E1E1E"/>
                </a:solidFill>
                <a:latin typeface="Aptos"/>
              </a:rPr>
              <a:t>So the window is real.</a:t>
            </a:r>
            <a:r>
              <a:rPr sz="2100">
                <a:solidFill>
                  <a:srgbClr val="3C3C3C"/>
                </a:solidFill>
                <a:latin typeface="Aptos"/>
              </a:rPr>
              <a:t> If they were all gone by day 35 I would be telling you to do something else.</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I chose the points system over the black box: same catch rate, and every name comes with its reasons</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The fancier model does not win.</a:t>
            </a:r>
            <a:r>
              <a:rPr sz="2100">
                <a:solidFill>
                  <a:srgbClr val="3C3C3C"/>
                </a:solidFill>
                <a:latin typeface="Aptos"/>
              </a:rPr>
              <a:t> Against a random forest and gradient boosting, tested forward on two terms it had never seen, they tie.</a:t>
            </a:r>
          </a:p>
          <a:p>
            <a:pPr>
              <a:spcAft>
                <a:spcPts val="2000"/>
              </a:spcAft>
            </a:pPr>
            <a:r>
              <a:rPr sz="2300" b="1">
                <a:solidFill>
                  <a:srgbClr val="1E1E1E"/>
                </a:solidFill>
                <a:latin typeface="Aptos"/>
              </a:rPr>
              <a:t>So I take the one I can explain.</a:t>
            </a:r>
            <a:r>
              <a:rPr sz="2100">
                <a:solidFill>
                  <a:srgbClr val="3C3C3C"/>
                </a:solidFill>
                <a:latin typeface="Aptos"/>
              </a:rPr>
              <a:t> Nothing handed in, low score, quiet on the site. Three reasons, in order, next to the name.</a:t>
            </a:r>
          </a:p>
          <a:p>
            <a:pPr>
              <a:spcAft>
                <a:spcPts val="2000"/>
              </a:spcAft>
            </a:pPr>
            <a:r>
              <a:rPr sz="2300" b="1">
                <a:solidFill>
                  <a:srgbClr val="1E1E1E"/>
                </a:solidFill>
                <a:latin typeface="Aptos"/>
              </a:rPr>
              <a:t>And it earns its place over the plain flag.</a:t>
            </a:r>
            <a:r>
              <a:rPr sz="2100">
                <a:solidFill>
                  <a:srgbClr val="3C3C3C"/>
                </a:solidFill>
                <a:latin typeface="Aptos"/>
              </a:rPr>
              <a:t> Same 810 calls on the test term, the points system finds 75 more of the students who leave, and 46 percent of its calls are right against 37.</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27,460 students still enrolled at day 28, trained on three older terms and tested on the newest one, with repeat students kept out of training.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What this cannot tell you</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Nobody has tested whether calling helps.</a:t>
            </a:r>
            <a:r>
              <a:rPr sz="2100">
                <a:solidFill>
                  <a:srgbClr val="3C3C3C"/>
                </a:solidFill>
                <a:latin typeface="Aptos"/>
              </a:rPr>
              <a:t> I can show you who is at risk. There is no record in this data of anyone being contacted, so the effect of a call is unmeasured, by me and by everyone else.</a:t>
            </a:r>
          </a:p>
          <a:p>
            <a:pPr>
              <a:spcAft>
                <a:spcPts val="2000"/>
              </a:spcAft>
            </a:pPr>
            <a:r>
              <a:rPr sz="2300" b="1">
                <a:solidFill>
                  <a:srgbClr val="1E1E1E"/>
                </a:solidFill>
                <a:latin typeface="Aptos"/>
              </a:rPr>
              <a:t>Two of seven courses set no work before day 28.</a:t>
            </a:r>
            <a:r>
              <a:rPr sz="2100">
                <a:solidFill>
                  <a:srgbClr val="3C3C3C"/>
                </a:solidFill>
                <a:latin typeface="Aptos"/>
              </a:rPr>
              <a:t> For those students the trigger does not exist, and I would not pretend otherwise.</a:t>
            </a:r>
          </a:p>
          <a:p>
            <a:pPr>
              <a:spcAft>
                <a:spcPts val="2000"/>
              </a:spcAft>
            </a:pPr>
            <a:r>
              <a:rPr sz="2300" b="1">
                <a:solidFill>
                  <a:srgbClr val="1E1E1E"/>
                </a:solidFill>
                <a:latin typeface="Aptos"/>
              </a:rPr>
              <a:t>It is 2013 to 2014, one UK university.</a:t>
            </a:r>
            <a:r>
              <a:rPr sz="2100">
                <a:solidFill>
                  <a:srgbClr val="3C3C3C"/>
                </a:solidFill>
                <a:latin typeface="Aptos"/>
              </a:rPr>
              <a:t> And the list leans on the most deprived students slightly harder than their risk alone justifies, 1.7 times the flag rate against 1.4 times the risk.</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Run it for one term, write down what happens, and we will know by summer</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Pick the courses that set early work.</a:t>
            </a:r>
            <a:r>
              <a:rPr sz="2100">
                <a:solidFill>
                  <a:srgbClr val="3C3C3C"/>
                </a:solidFill>
                <a:latin typeface="Aptos"/>
              </a:rPr>
              <a:t> Call the list. Record who was called, who was reached, and what was said.</a:t>
            </a:r>
          </a:p>
          <a:p>
            <a:pPr>
              <a:spcAft>
                <a:spcPts val="2000"/>
              </a:spcAft>
            </a:pPr>
            <a:r>
              <a:rPr sz="2300" b="1">
                <a:solidFill>
                  <a:srgbClr val="1E1E1E"/>
                </a:solidFill>
                <a:latin typeface="Aptos"/>
              </a:rPr>
              <a:t>Keep a group you do not call.</a:t>
            </a:r>
            <a:r>
              <a:rPr sz="2100">
                <a:solidFill>
                  <a:srgbClr val="3C3C3C"/>
                </a:solidFill>
                <a:latin typeface="Aptos"/>
              </a:rPr>
              <a:t> Without that, next year I am standing here saying the same thing I am saying now.</a:t>
            </a:r>
          </a:p>
          <a:p>
            <a:pPr>
              <a:spcAft>
                <a:spcPts val="2000"/>
              </a:spcAft>
            </a:pPr>
            <a:r>
              <a:rPr sz="2300" b="1">
                <a:solidFill>
                  <a:srgbClr val="1E1E1E"/>
                </a:solidFill>
                <a:latin typeface="Aptos"/>
              </a:rPr>
              <a:t>One term is enough to see it.</a:t>
            </a:r>
            <a:r>
              <a:rPr sz="2100">
                <a:solidFill>
                  <a:srgbClr val="3C3C3C"/>
                </a:solidFill>
                <a:latin typeface="Aptos"/>
              </a:rPr>
              <a:t> 736 calls, one cohort, and the question stops being a guess.</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48640"/>
            <a:ext cx="10972800" cy="1371600"/>
          </a:xfrm>
          <a:prstGeom prst="rect">
            <a:avLst/>
          </a:prstGeom>
          <a:noFill/>
        </p:spPr>
        <p:txBody>
          <a:bodyPr wrap="square">
            <a:spAutoFit/>
          </a:bodyPr>
          <a:lstStyle/>
          <a:p>
            <a:r>
              <a:rPr sz="3400" b="1">
                <a:solidFill>
                  <a:srgbClr val="1E1E1E"/>
                </a:solidFill>
                <a:latin typeface="Aptos"/>
              </a:rPr>
              <a:t>Call the students who have handed nothing in by day 28, and measure whether it works</a:t>
            </a:r>
          </a:p>
        </p:txBody>
      </p:sp>
      <p:sp>
        <p:nvSpPr>
          <p:cNvPr id="3" name="TextBox 2"/>
          <p:cNvSpPr txBox="1"/>
          <p:nvPr/>
        </p:nvSpPr>
        <p:spPr>
          <a:xfrm>
            <a:off x="822960" y="2377440"/>
            <a:ext cx="10607040" cy="3566160"/>
          </a:xfrm>
          <a:prstGeom prst="rect">
            <a:avLst/>
          </a:prstGeom>
          <a:noFill/>
        </p:spPr>
        <p:txBody>
          <a:bodyPr wrap="square">
            <a:spAutoFit/>
          </a:bodyPr>
          <a:lstStyle/>
          <a:p>
            <a:pPr>
              <a:spcAft>
                <a:spcPts val="2000"/>
              </a:spcAft>
            </a:pPr>
            <a:r>
              <a:rPr sz="2300" b="1">
                <a:solidFill>
                  <a:srgbClr val="1E1E1E"/>
                </a:solidFill>
                <a:latin typeface="Aptos"/>
              </a:rPr>
              <a:t>Who:</a:t>
            </a:r>
            <a:r>
              <a:rPr sz="2100">
                <a:solidFill>
                  <a:srgbClr val="3C3C3C"/>
                </a:solidFill>
                <a:latin typeface="Aptos"/>
              </a:rPr>
              <a:t> the 13 percent with nothing handed in. A quarter of the term's leavers are there.</a:t>
            </a:r>
          </a:p>
          <a:p>
            <a:pPr>
              <a:spcAft>
                <a:spcPts val="2000"/>
              </a:spcAft>
            </a:pPr>
            <a:r>
              <a:rPr sz="2300" b="1">
                <a:solidFill>
                  <a:srgbClr val="1E1E1E"/>
                </a:solidFill>
                <a:latin typeface="Aptos"/>
              </a:rPr>
              <a:t>Why not the dashboard:</a:t>
            </a:r>
            <a:r>
              <a:rPr sz="2100">
                <a:solidFill>
                  <a:srgbClr val="3C3C3C"/>
                </a:solidFill>
                <a:latin typeface="Aptos"/>
              </a:rPr>
              <a:t> the quiet list finds 17 percent of them, this one finds 24.</a:t>
            </a:r>
          </a:p>
          <a:p>
            <a:pPr>
              <a:spcAft>
                <a:spcPts val="2000"/>
              </a:spcAft>
            </a:pPr>
            <a:r>
              <a:rPr sz="2300" b="1">
                <a:solidFill>
                  <a:srgbClr val="1E1E1E"/>
                </a:solidFill>
                <a:latin typeface="Aptos"/>
              </a:rPr>
              <a:t>What I still owe you:</a:t>
            </a:r>
            <a:r>
              <a:rPr sz="2100">
                <a:solidFill>
                  <a:srgbClr val="3C3C3C"/>
                </a:solidFill>
                <a:latin typeface="Aptos"/>
              </a:rPr>
              <a:t> proof that the call itself does anything. That is next term's job, not this one's.</a:t>
            </a:r>
          </a:p>
        </p:txBody>
      </p:sp>
      <p:sp>
        <p:nvSpPr>
          <p:cNvPr id="4" name="TextBox 3"/>
          <p:cNvSpPr txBox="1"/>
          <p:nvPr/>
        </p:nvSpPr>
        <p:spPr>
          <a:xfrm>
            <a:off x="640080" y="6035040"/>
            <a:ext cx="10972800" cy="548640"/>
          </a:xfrm>
          <a:prstGeom prst="rect">
            <a:avLst/>
          </a:prstGeom>
          <a:noFill/>
        </p:spPr>
        <p:txBody>
          <a:bodyPr wrap="square">
            <a:spAutoFit/>
          </a:bodyPr>
          <a:lstStyle/>
          <a:p>
            <a:r>
              <a:rPr sz="1100">
                <a:solidFill>
                  <a:srgbClr val="6E6E6E"/>
                </a:solidFill>
                <a:latin typeface="Aptos"/>
              </a:rPr>
              <a:t>Open University Learning Analytics Dataset, 2013 to 2014. 22,476 students still enrolled at day 28, in the 16 of 22 course runs with marked work due by then.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B1132AC-9EEB-286A-DB5D-93B40DD84AC2}"/>
              </a:ext>
            </a:extLst>
          </p:cNvPr>
          <p:cNvSpPr/>
          <p:nvPr/>
        </p:nvSpPr>
        <p:spPr>
          <a:xfrm>
            <a:off x="838199" y="1093788"/>
            <a:ext cx="10506455" cy="2967208"/>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6200" b="1" kern="1200">
                <a:ln w="0"/>
                <a:solidFill>
                  <a:schemeClr val="tx1"/>
                </a:solidFill>
                <a:effectLst>
                  <a:outerShdw blurRad="38100" dist="19050" dir="2700000" algn="tl" rotWithShape="0">
                    <a:schemeClr val="dk1">
                      <a:alpha val="40000"/>
                    </a:schemeClr>
                  </a:outerShdw>
                </a:effectLst>
                <a:latin typeface="+mj-lt"/>
                <a:ea typeface="+mj-ea"/>
                <a:cs typeface="+mj-cs"/>
              </a:rPr>
              <a:t>Thank you!</a:t>
            </a:r>
          </a:p>
          <a:p>
            <a:pPr defTabSz="914400">
              <a:lnSpc>
                <a:spcPct val="90000"/>
              </a:lnSpc>
              <a:spcBef>
                <a:spcPct val="0"/>
              </a:spcBef>
              <a:spcAft>
                <a:spcPts val="600"/>
              </a:spcAft>
            </a:pPr>
            <a:endParaRPr lang="en-US" sz="6200" b="1" kern="1200">
              <a:ln w="0"/>
              <a:solidFill>
                <a:schemeClr val="tx1"/>
              </a:solidFill>
              <a:effectLst>
                <a:outerShdw blurRad="38100" dist="19050" dir="2700000" algn="tl" rotWithShape="0">
                  <a:schemeClr val="dk1">
                    <a:alpha val="40000"/>
                  </a:schemeClr>
                </a:outerShdw>
              </a:effectLst>
              <a:latin typeface="+mj-lt"/>
              <a:ea typeface="+mj-ea"/>
              <a:cs typeface="+mj-cs"/>
            </a:endParaRPr>
          </a:p>
          <a:p>
            <a:pPr defTabSz="914400">
              <a:lnSpc>
                <a:spcPct val="90000"/>
              </a:lnSpc>
              <a:spcBef>
                <a:spcPct val="0"/>
              </a:spcBef>
              <a:spcAft>
                <a:spcPts val="600"/>
              </a:spcAft>
            </a:pPr>
            <a:r>
              <a:rPr lang="en-US" sz="6200" b="1" kern="1200" cap="none" spc="0">
                <a:ln w="0"/>
                <a:solidFill>
                  <a:schemeClr val="tx1"/>
                </a:solidFill>
                <a:effectLst>
                  <a:outerShdw blurRad="38100" dist="19050" dir="2700000" algn="tl" rotWithShape="0">
                    <a:schemeClr val="dk1">
                      <a:alpha val="40000"/>
                    </a:schemeClr>
                  </a:outerShdw>
                </a:effectLst>
                <a:latin typeface="+mj-lt"/>
                <a:ea typeface="+mj-ea"/>
                <a:cs typeface="+mj-cs"/>
              </a:rPr>
              <a:t>ANY </a:t>
            </a:r>
            <a:r>
              <a:rPr lang="en-US" sz="6200" b="1" kern="1200" cap="none" spc="0">
                <a:ln w="0"/>
                <a:solidFill>
                  <a:schemeClr val="tx1"/>
                </a:solidFill>
                <a:effectLst>
                  <a:outerShdw blurRad="50800" dist="38100" dir="2700000" algn="tl" rotWithShape="0">
                    <a:prstClr val="black">
                      <a:alpha val="40000"/>
                    </a:prstClr>
                  </a:outerShdw>
                </a:effectLst>
                <a:latin typeface="+mj-lt"/>
                <a:ea typeface="+mj-ea"/>
                <a:cs typeface="+mj-cs"/>
              </a:rPr>
              <a:t>QUESTIONS</a:t>
            </a:r>
            <a:r>
              <a:rPr lang="en-US" sz="6200" b="1" kern="1200">
                <a:ln w="0"/>
                <a:solidFill>
                  <a:schemeClr val="tx1"/>
                </a:solidFill>
                <a:effectLst>
                  <a:outerShdw blurRad="38100" dist="19050" dir="2700000" algn="tl" rotWithShape="0">
                    <a:schemeClr val="dk1">
                      <a:alpha val="40000"/>
                    </a:schemeClr>
                  </a:outerShdw>
                </a:effectLst>
                <a:latin typeface="+mj-lt"/>
                <a:ea typeface="+mj-ea"/>
                <a:cs typeface="+mj-cs"/>
              </a:rPr>
              <a:t>..</a:t>
            </a:r>
            <a:endParaRPr lang="en-US" sz="6200" b="1" kern="1200" cap="none" spc="0">
              <a:ln w="0"/>
              <a:solidFill>
                <a:schemeClr val="tx1"/>
              </a:solidFill>
              <a:effectLst>
                <a:outerShdw blurRad="38100" dist="19050" dir="2700000" algn="tl" rotWithShape="0">
                  <a:schemeClr val="dk1">
                    <a:alpha val="40000"/>
                  </a:schemeClr>
                </a:outerShdw>
              </a:effectLst>
              <a:latin typeface="+mj-lt"/>
              <a:ea typeface="+mj-ea"/>
              <a:cs typeface="+mj-cs"/>
            </a:endParaRPr>
          </a:p>
        </p:txBody>
      </p:sp>
      <p:sp>
        <p:nvSpPr>
          <p:cNvPr id="28" name="Rectangle 27">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8030934"/>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963</TotalTime>
  <Words>1296</Words>
  <Application>Microsoft Office PowerPoint</Application>
  <PresentationFormat>Widescreen</PresentationFormat>
  <Paragraphs>56</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Akshaya</dc:creator>
  <cp:keywords/>
  <dc:description>generated using python-pptx</dc:description>
  <cp:lastModifiedBy>Akshaya Chevva</cp:lastModifiedBy>
  <cp:revision>4</cp:revision>
  <dcterms:created xsi:type="dcterms:W3CDTF">2013-01-27T09:14:16Z</dcterms:created>
  <dcterms:modified xsi:type="dcterms:W3CDTF">2026-10-15T23:05:46Z</dcterms:modified>
  <cp:category/>
</cp:coreProperties>
</file>